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90f5adee-5b16-7744-f842-547977af2001}">
          <p14:sldIdLst>
            <p14:sldId id="256"/>
          </p14:sldIdLst>
        </p14:section>
        <p14:section name="Projeto e evolução" id="{b38e37fe-de40-ccdc-5f22-57b820eb1b1f}">
          <p14:sldIdLst>
            <p14:sldId id="257"/>
            <p14:sldId id="258"/>
            <p14:sldId id="259"/>
          </p14:sldIdLst>
        </p14:section>
        <p14:section name="Inteligência Artificial" id="{76f1b1c8-e910-d329-8f99-4b2052f6dad0}">
          <p14:sldIdLst>
            <p14:sldId id="260"/>
            <p14:sldId id="261"/>
          </p14:sldIdLst>
        </p14:section>
        <p14:section name="Dados e algoritmos" id="{09e974b7-d6f3-8489-6075-46b5d360fe02}">
          <p14:sldIdLst>
            <p14:sldId id="262"/>
            <p14:sldId id="263"/>
            <p14:sldId id="264"/>
          </p14:sldIdLst>
        </p14:section>
        <p14:section name="Encerramento" id="{8cd24a1b-32d3-bff0-bd60-dd50b63026bd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E3B43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E3B43"/>
                </a:solidFill>
                <a:latin typeface="+mn-lt"/>
              </a:rPr>
              <a:t>Tempo médio de resolução (dias) — consulta C1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Dias</c:v>
                </c:pt>
              </c:strCache>
            </c:strRef>
          </c:tx>
          <c:spPr>
            <a:solidFill>
              <a:srgbClr val="9DB5B2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B2A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DB5B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DB5B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DB5B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DB5B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DB5B2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89B2D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E89B2D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Saneamento e Esgoto</c:v>
                  </c:pt>
                  <c:pt idx="1">
                    <c:v>Sinalizacao e Transito</c:v>
                  </c:pt>
                  <c:pt idx="2">
                    <c:v>Iluminacao Publica</c:v>
                  </c:pt>
                  <c:pt idx="3">
                    <c:v>Outros</c:v>
                  </c:pt>
                  <c:pt idx="4">
                    <c:v>Arborizacao e Pracas</c:v>
                  </c:pt>
                  <c:pt idx="5">
                    <c:v>Buraco na Via</c:v>
                  </c:pt>
                  <c:pt idx="6">
                    <c:v>Coleta de Lixo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</c:v>
                </c:pt>
                <c:pt idx="1">
                  <c:v>4</c:v>
                </c:pt>
                <c:pt idx="2">
                  <c:v>4.5</c:v>
                </c:pt>
                <c:pt idx="3">
                  <c:v>5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300" u="none">
                  <a:solidFill>
                    <a:srgbClr val="1B2A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B2A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Olá, eu sou o Nicolas Bernal, RM 559077. Este é o HackGov, uma plataforma GovTech para o cidadão relatar problemas urbanos e para a prefeitura atender com prioridade. Nesta etapa, o projeto ganhou uma nova inteligência artificial, uma camada de análise de dados em SQL e estruturas de dados escolhidas pela complexidade.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fluxo do HackGov tem quatro etapas. O cidadão relata o problema; a IA analisa o texto, sugere categoria e prioridade e agora também avisa se o problema já foi relatado; o gestor recebe uma fila já priorizada; e cada mudança de status fica registrada numa trilha de auditoria. A stack é React no frontend, Java Spring Boot no backend e Oracle no banco.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Desde a última entrega, entraram duas novidades desta etapa, destacadas em âmbar: a IA de detecção de duplicadas e as consultas analíticas com índices. Além delas, o sistema já tinha ganhado controle de acesso por perfil, o painel ordenado por prioridade, a trilha de auditoria com desfazer e o painel de estatísticas.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revisão do backlog, seis histórias que estavam planejadas foram entregues, como o painel por prioridade, o controle de acesso e a trilha de auditoria. E entraram sete novas histórias de integração entre frontend, backend e banco. A US24, da detecção de duplicadas, e a US25, dos índices, já estão prontas. Os critérios de aceitação das prioritárias estão no documento.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problema é simples: várias pessoas relatam o mesmo buraco ou o mesmo poste apagado, e cada relato repetido vira retrabalho. A nova IA compara a solicitação que está sendo preenchida com as solicitações abertas do mesmo bairro. Ela normaliza o texto, transforma cada texto em um vetor TF-IDF, mede a similaridade do cosseno e soma com a semelhança da rua e da categoria. A partir de 45%, o cidadão é avisado. No exemplo, cratera no asfalto e buraco enorme na rua, na mesma rua, dão 57%.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verificação roda quando o cidadão sai dos campos de descrição e endereço. Se houver solicitações parecidas, aparece este aviso, com protocolo, título, status e o percentual de semelhança, e o cidadão continua livre para registrar. A IA roda dentro do próprio backend Java, sem API externa, e não mostra nome nem descrição de outro cidadão. Os benefícios são menos retrabalho e mais transparência; as limitações são que ela compara palavras e não significados, e que os pesos precisam ser calibrados com dados reais.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análise com SQL, criei seis consultas analíticas. A primeira agrupa por categoria e mostra o tempo médio de resolução: Coleta de Lixo e Buraco na Via estão acima da média geral de 5,2 dias, calculada por uma subconsulta dentro do HAVING. As consultas usam agrupamentos, subconsultas, inclusive correlacionada, e funções analíticas como RANK, LEAD e ROLLUP.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Essas consultas viram decisões. O ranking de bairros mostra que Vila Nova tem a maior fila. O Centro concentra os casos de prioridade alta e quase não tem pendências, sinal de que a priorização funciona. E a consulta de atrasadas, com subconsulta correlacionada, aponta o vazamento de esgoto que já passou do tempo típico da categoria. Para a eficiência, criei cinco índices B-tree, que levam as buscas mais frequentes de O de n para O de log 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parte de estruturas de dados, cada escolha se justifica pelo custo. O painel do gestor usa uma fila de prioridade, um heap, que ordena em O de n log n. O desfazer usa uma pilha, com operações em O de 1. A IA guarda os vetores de palavras em HashMap, com consulta em tempo constante. Os índices do banco são árvores B, com busca em O de log n. E o próximo passo é um grafo, para agrupar duplicadas com busca em largura.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próximos passos são levar o ranking de bairros e as atrasadas para o painel do gestor, criar a consulta por protocolo e usar um grafo para agrupar duplicadas e concluí-las juntas. O código está no GitHub e a documentação completa está no PDF. Obrigado!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 escur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HackGov · Nicolas Bernal · RM 559077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cerramento escuro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229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ENTERPRISE CHALLENGE · FIAP × EGESP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685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HackGov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60604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chemeClr val="accent3"/>
                </a:solidFill>
              </a:rPr>
              <a:t>IA, dados e algoritmos a serviço do cidadão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02336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Nicolas Bernal</a:t>
            </a:r>
            <a:endParaRPr lang="en-US" sz="2400" dirty="0"/>
          </a:p>
          <a:p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</a:rPr>
              <a:t>RM 559077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9893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Vídeo: inserir link do YouTube  ·  github.com/nicoBernil/HackGov-Fase4-NicolasBernal_559077</a:t>
            </a:r>
            <a:endParaRPr lang="en-US" sz="1200" dirty="0"/>
          </a:p>
        </p:txBody>
      </p:sp>
      <p:sp>
        <p:nvSpPr>
          <p:cNvPr id="7" name="Foto do aluno (substituir)"/>
          <p:cNvSpPr/>
          <p:nvPr/>
        </p:nvSpPr>
        <p:spPr>
          <a:xfrm>
            <a:off x="8001000" y="1234440"/>
            <a:ext cx="3291840" cy="3291840"/>
          </a:xfrm>
          <a:prstGeom prst="ellipse">
            <a:avLst/>
          </a:prstGeom>
          <a:solidFill>
            <a:srgbClr val="174B54"/>
          </a:solidFill>
          <a:ln w="50800">
            <a:solidFill>
              <a:srgbClr val="E89B2D"/>
            </a:solidFill>
            <a:prstDash val="solid"/>
          </a:ln>
        </p:spPr>
      </p:sp>
      <p:pic>
        <p:nvPicPr>
          <p:cNvPr id="8" name="Icone fot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0" y="2103120"/>
            <a:ext cx="1280160" cy="12801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001000" y="3520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Inserir foto aqui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Do relato do cidadão à fila priorizada do gestor</a:t>
            </a:r>
            <a:endParaRPr lang="en-US" sz="3200" dirty="0"/>
          </a:p>
        </p:txBody>
      </p:sp>
      <p:sp>
        <p:nvSpPr>
          <p:cNvPr id="3" name="Etapa 1"/>
          <p:cNvSpPr/>
          <p:nvPr/>
        </p:nvSpPr>
        <p:spPr>
          <a:xfrm>
            <a:off x="548640" y="1554480"/>
            <a:ext cx="2560320" cy="3291840"/>
          </a:xfrm>
          <a:prstGeom prst="roundRect">
            <a:avLst>
              <a:gd name="adj" fmla="val 4286"/>
            </a:avLst>
          </a:prstGeom>
          <a:solidFill>
            <a:srgbClr val="EAF2F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Etapa 1 circulo"/>
          <p:cNvSpPr/>
          <p:nvPr/>
        </p:nvSpPr>
        <p:spPr>
          <a:xfrm>
            <a:off x="1417320" y="1828800"/>
            <a:ext cx="822960" cy="822960"/>
          </a:xfrm>
          <a:prstGeom prst="ellipse">
            <a:avLst/>
          </a:prstGeom>
          <a:solidFill>
            <a:srgbClr val="0E3B43"/>
          </a:solidFill>
          <a:ln/>
        </p:spPr>
      </p:sp>
      <p:pic>
        <p:nvPicPr>
          <p:cNvPr id="5" name="Etapa 1 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3060" y="2034540"/>
            <a:ext cx="411480" cy="411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8346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1. Cidadão relata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42900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Título, descrição e endereço pelo formulário web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3108960" y="292608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›</a:t>
            </a:r>
            <a:endParaRPr lang="en-US" sz="3000" dirty="0"/>
          </a:p>
        </p:txBody>
      </p:sp>
      <p:sp>
        <p:nvSpPr>
          <p:cNvPr id="9" name="Etapa 2"/>
          <p:cNvSpPr/>
          <p:nvPr/>
        </p:nvSpPr>
        <p:spPr>
          <a:xfrm>
            <a:off x="3383280" y="1554480"/>
            <a:ext cx="2560320" cy="3291840"/>
          </a:xfrm>
          <a:prstGeom prst="roundRect">
            <a:avLst>
              <a:gd name="adj" fmla="val 4286"/>
            </a:avLst>
          </a:prstGeom>
          <a:solidFill>
            <a:srgbClr val="EAF2F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Etapa 2 circulo"/>
          <p:cNvSpPr/>
          <p:nvPr/>
        </p:nvSpPr>
        <p:spPr>
          <a:xfrm>
            <a:off x="4251960" y="1828800"/>
            <a:ext cx="822960" cy="822960"/>
          </a:xfrm>
          <a:prstGeom prst="ellipse">
            <a:avLst/>
          </a:prstGeom>
          <a:solidFill>
            <a:srgbClr val="E89B2D"/>
          </a:solidFill>
          <a:ln/>
        </p:spPr>
      </p:sp>
      <p:pic>
        <p:nvPicPr>
          <p:cNvPr id="11" name="Etapa 2 i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7700" y="203454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66160" y="28346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2. IA analisa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3566160" y="342900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Sugere categoria e prioridade e avisa se o problema já foi relatado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5943600" y="292608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›</a:t>
            </a:r>
            <a:endParaRPr lang="en-US" sz="3000" dirty="0"/>
          </a:p>
        </p:txBody>
      </p:sp>
      <p:sp>
        <p:nvSpPr>
          <p:cNvPr id="15" name="Etapa 3"/>
          <p:cNvSpPr/>
          <p:nvPr/>
        </p:nvSpPr>
        <p:spPr>
          <a:xfrm>
            <a:off x="6217920" y="1554480"/>
            <a:ext cx="2560320" cy="3291840"/>
          </a:xfrm>
          <a:prstGeom prst="roundRect">
            <a:avLst>
              <a:gd name="adj" fmla="val 4286"/>
            </a:avLst>
          </a:prstGeom>
          <a:solidFill>
            <a:srgbClr val="EAF2F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Etapa 3 circulo"/>
          <p:cNvSpPr/>
          <p:nvPr/>
        </p:nvSpPr>
        <p:spPr>
          <a:xfrm>
            <a:off x="7086600" y="1828800"/>
            <a:ext cx="822960" cy="822960"/>
          </a:xfrm>
          <a:prstGeom prst="ellipse">
            <a:avLst/>
          </a:prstGeom>
          <a:solidFill>
            <a:srgbClr val="0E3B43"/>
          </a:solidFill>
          <a:ln/>
        </p:spPr>
      </p:sp>
      <p:pic>
        <p:nvPicPr>
          <p:cNvPr id="17" name="Etapa 3 i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2340" y="203454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400800" y="28346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3. Fila priorizada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6400800" y="342900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Gestor vê primeiro os casos ALTA, por ordem de chegada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8778240" y="292608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›</a:t>
            </a:r>
            <a:endParaRPr lang="en-US" sz="3000" dirty="0"/>
          </a:p>
        </p:txBody>
      </p:sp>
      <p:sp>
        <p:nvSpPr>
          <p:cNvPr id="21" name="Etapa 4"/>
          <p:cNvSpPr/>
          <p:nvPr/>
        </p:nvSpPr>
        <p:spPr>
          <a:xfrm>
            <a:off x="9052560" y="1554480"/>
            <a:ext cx="2560320" cy="3291840"/>
          </a:xfrm>
          <a:prstGeom prst="roundRect">
            <a:avLst>
              <a:gd name="adj" fmla="val 4286"/>
            </a:avLst>
          </a:prstGeom>
          <a:solidFill>
            <a:srgbClr val="EAF2F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Etapa 4 circulo"/>
          <p:cNvSpPr/>
          <p:nvPr/>
        </p:nvSpPr>
        <p:spPr>
          <a:xfrm>
            <a:off x="9921240" y="1828800"/>
            <a:ext cx="822960" cy="822960"/>
          </a:xfrm>
          <a:prstGeom prst="ellipse">
            <a:avLst/>
          </a:prstGeom>
          <a:solidFill>
            <a:srgbClr val="0E3B43"/>
          </a:solidFill>
          <a:ln/>
        </p:spPr>
      </p:sp>
      <p:pic>
        <p:nvPicPr>
          <p:cNvPr id="23" name="Etapa 4 i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6980" y="2034540"/>
            <a:ext cx="411480" cy="41148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235440" y="28346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4. Auditoria</a:t>
            </a:r>
            <a:endParaRPr lang="en-US" sz="1800" dirty="0"/>
          </a:p>
        </p:txBody>
      </p:sp>
      <p:sp>
        <p:nvSpPr>
          <p:cNvPr id="25" name="Text 19"/>
          <p:cNvSpPr txBox="1"/>
          <p:nvPr/>
        </p:nvSpPr>
        <p:spPr>
          <a:xfrm>
            <a:off x="9235440" y="342900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Cada mudança de status fica registrada: quem, quando e para qual status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548640" y="52578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Stack: React + Vite  ·  Java Spring Boot  ·  Oracle (5 tabelas)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O que evoluiu desde a última entrega</a:t>
            </a:r>
            <a:endParaRPr lang="en-US" sz="3200" dirty="0"/>
          </a:p>
        </p:txBody>
      </p:sp>
      <p:sp>
        <p:nvSpPr>
          <p:cNvPr id="3" name="Evolucao 1"/>
          <p:cNvSpPr/>
          <p:nvPr/>
        </p:nvSpPr>
        <p:spPr>
          <a:xfrm>
            <a:off x="548640" y="1463040"/>
            <a:ext cx="5394960" cy="1325880"/>
          </a:xfrm>
          <a:prstGeom prst="roundRect">
            <a:avLst>
              <a:gd name="adj" fmla="val 8276"/>
            </a:avLst>
          </a:prstGeom>
          <a:solidFill>
            <a:srgbClr val="FDF1D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Evolucao 1 circulo"/>
          <p:cNvSpPr/>
          <p:nvPr/>
        </p:nvSpPr>
        <p:spPr>
          <a:xfrm>
            <a:off x="777240" y="1737360"/>
            <a:ext cx="777240" cy="777240"/>
          </a:xfrm>
          <a:prstGeom prst="ellipse">
            <a:avLst/>
          </a:prstGeom>
          <a:solidFill>
            <a:srgbClr val="E89B2D"/>
          </a:solidFill>
          <a:ln/>
        </p:spPr>
      </p:sp>
      <p:pic>
        <p:nvPicPr>
          <p:cNvPr id="5" name="Evolucao 1 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1931670"/>
            <a:ext cx="388620" cy="3886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83080" y="166420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Detecção de duplicadas (IA)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783080" y="208483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Novo: avisa antes de registrar um problema repetido</a:t>
            </a:r>
            <a:endParaRPr lang="en-US" sz="1500" dirty="0"/>
          </a:p>
        </p:txBody>
      </p:sp>
      <p:sp>
        <p:nvSpPr>
          <p:cNvPr id="8" name="Evolucao 2"/>
          <p:cNvSpPr/>
          <p:nvPr/>
        </p:nvSpPr>
        <p:spPr>
          <a:xfrm>
            <a:off x="6217920" y="1463040"/>
            <a:ext cx="5394960" cy="1325880"/>
          </a:xfrm>
          <a:prstGeom prst="roundRect">
            <a:avLst>
              <a:gd name="adj" fmla="val 8276"/>
            </a:avLst>
          </a:prstGeom>
          <a:solidFill>
            <a:srgbClr val="FDF1DF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Evolucao 2 circulo"/>
          <p:cNvSpPr/>
          <p:nvPr/>
        </p:nvSpPr>
        <p:spPr>
          <a:xfrm>
            <a:off x="6446520" y="1737360"/>
            <a:ext cx="777240" cy="777240"/>
          </a:xfrm>
          <a:prstGeom prst="ellipse">
            <a:avLst/>
          </a:prstGeom>
          <a:solidFill>
            <a:srgbClr val="E89B2D"/>
          </a:solidFill>
          <a:ln/>
        </p:spPr>
      </p:sp>
      <p:pic>
        <p:nvPicPr>
          <p:cNvPr id="10" name="Evolucao 2 i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0830" y="1931670"/>
            <a:ext cx="388620" cy="3886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452360" y="166420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Consultas analíticas e índices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7452360" y="208483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Novo: 6 consultas SQL e 5 índices B-tree</a:t>
            </a:r>
            <a:endParaRPr lang="en-US" sz="1500" dirty="0"/>
          </a:p>
        </p:txBody>
      </p:sp>
      <p:sp>
        <p:nvSpPr>
          <p:cNvPr id="13" name="Evolucao 3"/>
          <p:cNvSpPr/>
          <p:nvPr/>
        </p:nvSpPr>
        <p:spPr>
          <a:xfrm>
            <a:off x="548640" y="3017520"/>
            <a:ext cx="5394960" cy="1325880"/>
          </a:xfrm>
          <a:prstGeom prst="roundRect">
            <a:avLst>
              <a:gd name="adj" fmla="val 8276"/>
            </a:avLst>
          </a:prstGeom>
          <a:solidFill>
            <a:srgbClr val="EAF2F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Evolucao 3 circulo"/>
          <p:cNvSpPr/>
          <p:nvPr/>
        </p:nvSpPr>
        <p:spPr>
          <a:xfrm>
            <a:off x="777240" y="3291840"/>
            <a:ext cx="777240" cy="777240"/>
          </a:xfrm>
          <a:prstGeom prst="ellipse">
            <a:avLst/>
          </a:prstGeom>
          <a:solidFill>
            <a:srgbClr val="0E3B43"/>
          </a:solidFill>
          <a:ln/>
        </p:spPr>
      </p:sp>
      <p:pic>
        <p:nvPicPr>
          <p:cNvPr id="15" name="Evolucao 3 i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" y="3486150"/>
            <a:ext cx="388620" cy="3886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783080" y="321868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Controle de acesso por perfil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1783080" y="363931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Cidadão só vê o que é dele; rotas de gestor exigem GESTOR</a:t>
            </a:r>
            <a:endParaRPr lang="en-US" sz="1500" dirty="0"/>
          </a:p>
        </p:txBody>
      </p:sp>
      <p:sp>
        <p:nvSpPr>
          <p:cNvPr id="18" name="Evolucao 4"/>
          <p:cNvSpPr/>
          <p:nvPr/>
        </p:nvSpPr>
        <p:spPr>
          <a:xfrm>
            <a:off x="6217920" y="3017520"/>
            <a:ext cx="5394960" cy="1325880"/>
          </a:xfrm>
          <a:prstGeom prst="roundRect">
            <a:avLst>
              <a:gd name="adj" fmla="val 8276"/>
            </a:avLst>
          </a:prstGeom>
          <a:solidFill>
            <a:srgbClr val="EAF2F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Evolucao 4 circulo"/>
          <p:cNvSpPr/>
          <p:nvPr/>
        </p:nvSpPr>
        <p:spPr>
          <a:xfrm>
            <a:off x="6446520" y="3291840"/>
            <a:ext cx="777240" cy="777240"/>
          </a:xfrm>
          <a:prstGeom prst="ellipse">
            <a:avLst/>
          </a:prstGeom>
          <a:solidFill>
            <a:srgbClr val="0E3B43"/>
          </a:solidFill>
          <a:ln/>
        </p:spPr>
      </p:sp>
      <p:pic>
        <p:nvPicPr>
          <p:cNvPr id="20" name="Evolucao 4 i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0830" y="3486150"/>
            <a:ext cx="388620" cy="3886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452360" y="321868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Painel ordenado por prioridade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7452360" y="363931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Fila de prioridade: ALTA primeiro, depois chegada</a:t>
            </a:r>
            <a:endParaRPr lang="en-US" sz="1500" dirty="0"/>
          </a:p>
        </p:txBody>
      </p:sp>
      <p:sp>
        <p:nvSpPr>
          <p:cNvPr id="23" name="Evolucao 5"/>
          <p:cNvSpPr/>
          <p:nvPr/>
        </p:nvSpPr>
        <p:spPr>
          <a:xfrm>
            <a:off x="548640" y="4572000"/>
            <a:ext cx="5394960" cy="1325880"/>
          </a:xfrm>
          <a:prstGeom prst="roundRect">
            <a:avLst>
              <a:gd name="adj" fmla="val 8276"/>
            </a:avLst>
          </a:prstGeom>
          <a:solidFill>
            <a:srgbClr val="EAF2F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Evolucao 5 circulo"/>
          <p:cNvSpPr/>
          <p:nvPr/>
        </p:nvSpPr>
        <p:spPr>
          <a:xfrm>
            <a:off x="777240" y="4846320"/>
            <a:ext cx="777240" cy="777240"/>
          </a:xfrm>
          <a:prstGeom prst="ellipse">
            <a:avLst/>
          </a:prstGeom>
          <a:solidFill>
            <a:srgbClr val="0E3B43"/>
          </a:solidFill>
          <a:ln/>
        </p:spPr>
      </p:sp>
      <p:pic>
        <p:nvPicPr>
          <p:cNvPr id="25" name="Evolucao 5 icon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" y="5040630"/>
            <a:ext cx="388620" cy="38862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783080" y="477316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Auditoria com "desfazer"</a:t>
            </a:r>
            <a:endParaRPr lang="en-US" sz="1800" dirty="0"/>
          </a:p>
        </p:txBody>
      </p:sp>
      <p:sp>
        <p:nvSpPr>
          <p:cNvPr id="27" name="Text 20"/>
          <p:cNvSpPr txBox="1"/>
          <p:nvPr/>
        </p:nvSpPr>
        <p:spPr>
          <a:xfrm>
            <a:off x="1783080" y="519379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Volta ao status anterior sem apagar o histórico</a:t>
            </a:r>
            <a:endParaRPr lang="en-US" sz="1500" dirty="0"/>
          </a:p>
        </p:txBody>
      </p:sp>
      <p:sp>
        <p:nvSpPr>
          <p:cNvPr id="28" name="Evolucao 6"/>
          <p:cNvSpPr/>
          <p:nvPr/>
        </p:nvSpPr>
        <p:spPr>
          <a:xfrm>
            <a:off x="6217920" y="4572000"/>
            <a:ext cx="5394960" cy="1325880"/>
          </a:xfrm>
          <a:prstGeom prst="roundRect">
            <a:avLst>
              <a:gd name="adj" fmla="val 8276"/>
            </a:avLst>
          </a:prstGeom>
          <a:solidFill>
            <a:srgbClr val="EAF2F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Evolucao 6 circulo"/>
          <p:cNvSpPr/>
          <p:nvPr/>
        </p:nvSpPr>
        <p:spPr>
          <a:xfrm>
            <a:off x="6446520" y="4846320"/>
            <a:ext cx="777240" cy="777240"/>
          </a:xfrm>
          <a:prstGeom prst="ellipse">
            <a:avLst/>
          </a:prstGeom>
          <a:solidFill>
            <a:srgbClr val="0E3B43"/>
          </a:solidFill>
          <a:ln/>
        </p:spPr>
      </p:sp>
      <p:pic>
        <p:nvPicPr>
          <p:cNvPr id="30" name="Evolucao 6 icone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0830" y="5040630"/>
            <a:ext cx="388620" cy="38862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7452360" y="477316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Painel de estatísticas</a:t>
            </a:r>
            <a:endParaRPr lang="en-US" sz="1800" dirty="0"/>
          </a:p>
        </p:txBody>
      </p:sp>
      <p:sp>
        <p:nvSpPr>
          <p:cNvPr id="32" name="Text 24"/>
          <p:cNvSpPr txBox="1"/>
          <p:nvPr/>
        </p:nvSpPr>
        <p:spPr>
          <a:xfrm>
            <a:off x="7452360" y="519379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Totais por categoria e tempo médio de resolução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Backlog revisado: 6 histórias entregues, 7 novas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603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histórias de "Planejado" para "Concluído" (US10, 11, 14, 15, 16, 17)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5661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6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6634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novas histórias de integração frontend, backend e banco</a:t>
            </a:r>
            <a:endParaRPr lang="en-US" sz="1500" dirty="0"/>
          </a:p>
        </p:txBody>
      </p:sp>
      <p:graphicFrame>
        <p:nvGraphicFramePr>
          <p:cNvPr id="5" name="Tabela novas historia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383280" y="1508760"/>
          <a:ext cx="82296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5760720"/>
                <a:gridCol w="164592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Nova história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US24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Cidadão é avisado de solicitação parecida no bairro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5B8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Concluído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US25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Índices nas buscas mais frequentes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5B8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Concluído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US26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Ranking de bairros e solicitações atrasadas no painel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89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 andamento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US27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Consulta por número de protocolo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6B7C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Planejado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US28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Estatísticas calculadas no banco (GROUP BY)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6B7C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Planejado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US29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Lista do gestor paginada pelo backend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6B7C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Planejado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US30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Marcar e agrupar duplicadas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6B7C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Planejado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3383280" y="5577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Critérios de aceitação (formato Dado/Quando/Então) detalhados no documento para US24, US26 e US27.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Nova IA: o mesmo buraco não entra duas vezes na fila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3B43"/>
                </a:solidFill>
              </a:rPr>
              <a:t>Problema: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vários cidadãos relatam o mesmo problema, e cada relato repetido é retrabalho de triagem para o gestor.</a:t>
            </a:r>
            <a:endParaRPr lang="en-US" sz="1700" dirty="0"/>
          </a:p>
        </p:txBody>
      </p:sp>
      <p:sp>
        <p:nvSpPr>
          <p:cNvPr id="4" name="Passo IA 1"/>
          <p:cNvSpPr/>
          <p:nvPr/>
        </p:nvSpPr>
        <p:spPr>
          <a:xfrm>
            <a:off x="548640" y="2240280"/>
            <a:ext cx="2084832" cy="1828800"/>
          </a:xfrm>
          <a:prstGeom prst="roundRect">
            <a:avLst>
              <a:gd name="adj" fmla="val 6000"/>
            </a:avLst>
          </a:prstGeom>
          <a:solidFill>
            <a:srgbClr val="0E3B4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237744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Filtra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880360"/>
            <a:ext cx="18105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Só solicitações abertas do mesmo bairro e cidade</a:t>
            </a:r>
            <a:endParaRPr lang="en-US" sz="1400" dirty="0"/>
          </a:p>
        </p:txBody>
      </p:sp>
      <p:sp>
        <p:nvSpPr>
          <p:cNvPr id="7" name="Passo IA 2"/>
          <p:cNvSpPr/>
          <p:nvPr/>
        </p:nvSpPr>
        <p:spPr>
          <a:xfrm>
            <a:off x="2816352" y="2240280"/>
            <a:ext cx="2084832" cy="1828800"/>
          </a:xfrm>
          <a:prstGeom prst="roundRect">
            <a:avLst>
              <a:gd name="adj" fmla="val 6000"/>
            </a:avLst>
          </a:prstGeom>
          <a:solidFill>
            <a:srgbClr val="0E3B4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953512" y="237744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Normaliza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2953512" y="2880360"/>
            <a:ext cx="18105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Sem acento, sem "de/na/o", plural reduzido</a:t>
            </a:r>
            <a:endParaRPr lang="en-US" sz="1400" dirty="0"/>
          </a:p>
        </p:txBody>
      </p:sp>
      <p:sp>
        <p:nvSpPr>
          <p:cNvPr id="10" name="Passo IA 3"/>
          <p:cNvSpPr/>
          <p:nvPr/>
        </p:nvSpPr>
        <p:spPr>
          <a:xfrm>
            <a:off x="5084064" y="2240280"/>
            <a:ext cx="2084832" cy="1828800"/>
          </a:xfrm>
          <a:prstGeom prst="roundRect">
            <a:avLst>
              <a:gd name="adj" fmla="val 6000"/>
            </a:avLst>
          </a:prstGeom>
          <a:solidFill>
            <a:srgbClr val="0E3B4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221224" y="237744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TF-IDF + cosseno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221224" y="2880360"/>
            <a:ext cx="18105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Palavras raras no bairro pesam mais</a:t>
            </a:r>
            <a:endParaRPr lang="en-US" sz="1400" dirty="0"/>
          </a:p>
        </p:txBody>
      </p:sp>
      <p:sp>
        <p:nvSpPr>
          <p:cNvPr id="13" name="Passo IA 4"/>
          <p:cNvSpPr/>
          <p:nvPr/>
        </p:nvSpPr>
        <p:spPr>
          <a:xfrm>
            <a:off x="7351776" y="2240280"/>
            <a:ext cx="2084832" cy="1828800"/>
          </a:xfrm>
          <a:prstGeom prst="roundRect">
            <a:avLst>
              <a:gd name="adj" fmla="val 6000"/>
            </a:avLst>
          </a:prstGeom>
          <a:solidFill>
            <a:srgbClr val="0E3B4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488936" y="237744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Nota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7488936" y="2880360"/>
            <a:ext cx="18105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70% texto + 20% rua + 10% categoria</a:t>
            </a:r>
            <a:endParaRPr lang="en-US" sz="1400" dirty="0"/>
          </a:p>
        </p:txBody>
      </p:sp>
      <p:sp>
        <p:nvSpPr>
          <p:cNvPr id="16" name="Passo IA 5"/>
          <p:cNvSpPr/>
          <p:nvPr/>
        </p:nvSpPr>
        <p:spPr>
          <a:xfrm>
            <a:off x="9619488" y="2240280"/>
            <a:ext cx="2084832" cy="1828800"/>
          </a:xfrm>
          <a:prstGeom prst="roundRect">
            <a:avLst>
              <a:gd name="adj" fmla="val 6000"/>
            </a:avLst>
          </a:prstGeom>
          <a:solidFill>
            <a:srgbClr val="E89B2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756648" y="2377440"/>
            <a:ext cx="1810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Avisa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9756648" y="2880360"/>
            <a:ext cx="18105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 partir de 45%, até 3 parecidas</a:t>
            </a:r>
            <a:endParaRPr lang="en-US" sz="1400" dirty="0"/>
          </a:p>
        </p:txBody>
      </p:sp>
      <p:sp>
        <p:nvSpPr>
          <p:cNvPr id="19" name="Exemplo de resultado"/>
          <p:cNvSpPr/>
          <p:nvPr/>
        </p:nvSpPr>
        <p:spPr>
          <a:xfrm>
            <a:off x="548640" y="4434840"/>
            <a:ext cx="11064240" cy="1600200"/>
          </a:xfrm>
          <a:prstGeom prst="roundRect">
            <a:avLst>
              <a:gd name="adj" fmla="val 6857"/>
            </a:avLst>
          </a:prstGeom>
          <a:solidFill>
            <a:srgbClr val="EAF2F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77240" y="4572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Exemplo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49377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Nova: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"Cratera no asfalto", R. das Flores 118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Já aberta: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"Buraco enorme na rua", Rua das Flores 120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8778240" y="45720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57%</a:t>
            </a:r>
            <a:endParaRPr lang="en-US" sz="44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0" y="5440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semelhança: o cidadão é avisado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Integrada ao formulário, local e sem custo de API</a:t>
            </a:r>
            <a:endParaRPr lang="en-US" sz="3200" dirty="0"/>
          </a:p>
        </p:txBody>
      </p:sp>
      <p:sp>
        <p:nvSpPr>
          <p:cNvPr id="3" name="Mock do aviso"/>
          <p:cNvSpPr/>
          <p:nvPr/>
        </p:nvSpPr>
        <p:spPr>
          <a:xfrm>
            <a:off x="548640" y="1463040"/>
            <a:ext cx="5120640" cy="3017520"/>
          </a:xfrm>
          <a:prstGeom prst="roundRect">
            <a:avLst>
              <a:gd name="adj" fmla="val 3636"/>
            </a:avLst>
          </a:prstGeom>
          <a:solidFill>
            <a:srgbClr val="FFF8E6"/>
          </a:solidFill>
          <a:ln w="19050">
            <a:solidFill>
              <a:srgbClr val="F0D58C"/>
            </a:solidFill>
            <a:prstDash val="solid"/>
          </a:ln>
        </p:spPr>
      </p:sp>
      <p:pic>
        <p:nvPicPr>
          <p:cNvPr id="4" name="Icone avis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91640"/>
            <a:ext cx="411480" cy="4114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69164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4E00"/>
                </a:solidFill>
              </a:rPr>
              <a:t>Esse problema pode já ter sido relatado</a:t>
            </a:r>
            <a:endParaRPr lang="en-US" sz="1600" dirty="0"/>
          </a:p>
        </p:txBody>
      </p:sp>
      <p:sp>
        <p:nvSpPr>
          <p:cNvPr id="6" name="Mock item"/>
          <p:cNvSpPr/>
          <p:nvPr/>
        </p:nvSpPr>
        <p:spPr>
          <a:xfrm>
            <a:off x="777240" y="2331720"/>
            <a:ext cx="46634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914400" y="2560320"/>
            <a:ext cx="731520" cy="411480"/>
          </a:xfrm>
          <a:prstGeom prst="rect">
            <a:avLst/>
          </a:prstGeom>
          <a:solidFill>
            <a:srgbClr val="F0D58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4E00"/>
                </a:solidFill>
              </a:rPr>
              <a:t>57%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783080" y="2395728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HG202600010 — Buraco enorme na rua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6B7C80"/>
                </a:solidFill>
              </a:rPr>
              <a:t>Rua das Flores, Centro · Recebido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42900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4E00"/>
                </a:solidFill>
              </a:rPr>
              <a:t>É um problema diferente? Você pode registrar normalmente.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6634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/api/solicitacoes/verificar-duplicidade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507492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Sem nome nem descrição de outro cidadão (LGPD) · 5 testes automatizados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035040" y="1463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5"/>
                </a:solidFill>
              </a:rPr>
              <a:t>Benefícios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6035040" y="2011680"/>
            <a:ext cx="27432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Menos solicitações repetidas na fila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Cidadão vê na hora o status do caso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Sem custo e sem enviar dados a terceiros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Resultado explicável (% auditável)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8915400" y="1463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Limitações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8915400" y="2011680"/>
            <a:ext cx="27432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Compara palavras, não significados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Bairro precisa ser digitado igual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Pesos e limiar a recalibrar com dados reais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Custo cresce com as abertas do bairro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SQL: Coleta de Lixo e Buraco na Via passam da média</a:t>
            </a:r>
            <a:endParaRPr lang="en-US" sz="3200" dirty="0"/>
          </a:p>
        </p:txBody>
      </p:sp>
      <p:graphicFrame>
        <p:nvGraphicFramePr>
          <p:cNvPr id="3" name="Grafico tempo por categoria" descr=""/>
          <p:cNvGraphicFramePr/>
          <p:nvPr/>
        </p:nvGraphicFramePr>
        <p:xfrm>
          <a:off x="548640" y="1371600"/>
          <a:ext cx="713232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8138160" y="14630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5,2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8138160" y="237744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dias de média geral de resolução (subconsulta no HAVING, consulta C3)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33832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Recursos usados nas 6 consultas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138160" y="379476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GROUP BY, SUM, AVG, HAVING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Subconsultas: no FROM, no HAVING e correlacionada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RATIO_TO_REPORT, RANK, LEAD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ROLLUP e WITH (CTE)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89788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Resultados sobre a massa de teste do projeto (20 solicitações).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O que as consultas dizem ao gestor</a:t>
            </a:r>
            <a:endParaRPr lang="en-US" sz="3200" dirty="0"/>
          </a:p>
        </p:txBody>
      </p:sp>
      <p:sp>
        <p:nvSpPr>
          <p:cNvPr id="3" name="Insight 1"/>
          <p:cNvSpPr/>
          <p:nvPr/>
        </p:nvSpPr>
        <p:spPr>
          <a:xfrm>
            <a:off x="548640" y="1508760"/>
            <a:ext cx="3474720" cy="2834640"/>
          </a:xfrm>
          <a:prstGeom prst="roundRect">
            <a:avLst>
              <a:gd name="adj" fmla="val 3871"/>
            </a:avLst>
          </a:prstGeom>
          <a:solidFill>
            <a:srgbClr val="EAF2F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7373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3B43"/>
                </a:solidFill>
              </a:rPr>
              <a:t>ONDE AGIR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488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Vila Nova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017520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5 de 7 solicitações abertas: a maior fila (ranking com RANK, C2)</a:t>
            </a:r>
            <a:endParaRPr lang="en-US" sz="1500" dirty="0"/>
          </a:p>
        </p:txBody>
      </p:sp>
      <p:sp>
        <p:nvSpPr>
          <p:cNvPr id="7" name="Insight 2"/>
          <p:cNvSpPr/>
          <p:nvPr/>
        </p:nvSpPr>
        <p:spPr>
          <a:xfrm>
            <a:off x="4297680" y="1508760"/>
            <a:ext cx="3474720" cy="2834640"/>
          </a:xfrm>
          <a:prstGeom prst="roundRect">
            <a:avLst>
              <a:gd name="adj" fmla="val 3871"/>
            </a:avLst>
          </a:prstGeom>
          <a:solidFill>
            <a:srgbClr val="EAF2F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572000" y="17373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F7A80"/>
                </a:solidFill>
              </a:rPr>
              <a:t>A IA PRIORIZA BEM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1488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Centro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3017520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5 dos 6 casos ALTA e só 1 pendente (C2 e matriz ROLLUP, C6)</a:t>
            </a:r>
            <a:endParaRPr lang="en-US" sz="1500" dirty="0"/>
          </a:p>
        </p:txBody>
      </p:sp>
      <p:sp>
        <p:nvSpPr>
          <p:cNvPr id="11" name="Insight 3"/>
          <p:cNvSpPr/>
          <p:nvPr/>
        </p:nvSpPr>
        <p:spPr>
          <a:xfrm>
            <a:off x="8046720" y="1508760"/>
            <a:ext cx="3474720" cy="2834640"/>
          </a:xfrm>
          <a:prstGeom prst="roundRect">
            <a:avLst>
              <a:gd name="adj" fmla="val 3871"/>
            </a:avLst>
          </a:prstGeom>
          <a:solidFill>
            <a:srgbClr val="EAF2F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321040" y="17373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4562F"/>
                </a:solidFill>
              </a:rPr>
              <a:t>ATENDER HOJE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1488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HGSEED0010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3017520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Esgoto a céu aberto, ALTA: 4 dias aberto contra 3,0 de média (subconsulta correlacionada, C4)</a:t>
            </a:r>
            <a:endParaRPr lang="en-US" sz="1500" dirty="0"/>
          </a:p>
        </p:txBody>
      </p:sp>
      <p:sp>
        <p:nvSpPr>
          <p:cNvPr id="15" name="Indices circulo"/>
          <p:cNvSpPr/>
          <p:nvPr/>
        </p:nvSpPr>
        <p:spPr>
          <a:xfrm>
            <a:off x="548640" y="4800600"/>
            <a:ext cx="731520" cy="731520"/>
          </a:xfrm>
          <a:prstGeom prst="ellipse">
            <a:avLst/>
          </a:prstGeom>
          <a:solidFill>
            <a:srgbClr val="0E3B43"/>
          </a:solidFill>
          <a:ln/>
        </p:spPr>
      </p:sp>
      <p:pic>
        <p:nvPicPr>
          <p:cNvPr id="16" name="Indices 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983480"/>
            <a:ext cx="365760" cy="36576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463040" y="480060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3B43"/>
                </a:solidFill>
              </a:rPr>
              <a:t>Otimização: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5 índices B-tree nas chaves estrangeiras e colunas de busca levam as consultas mais frequentes de O(n) para O(log n).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Cada estrutura escolhida pelo custo da operação</a:t>
            </a:r>
            <a:endParaRPr lang="en-US" sz="3200" dirty="0"/>
          </a:p>
        </p:txBody>
      </p:sp>
      <p:graphicFrame>
        <p:nvGraphicFramePr>
          <p:cNvPr id="10" name="Tabela estrutura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3108960"/>
                <a:gridCol w="2194560"/>
                <a:gridCol w="19202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Situação no HackGov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Estrutura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 a estrutura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ela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Painel do gestor por prioridade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Fila de prioridade (heap)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5B8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 log n)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O(n²)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"Desfazer" status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Pilha (ArrayDeque)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5B8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O(h)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Comparar textos na IA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HashMap / HashSet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5B8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O(m) por par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O(m²) por par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Buscas no banco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Árvore B (índices)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5B8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Agrupar duplicadas (próximo passo)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Grafo + busca em largura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5B8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O(V + E)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O(V²)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Destaque heap"/>
          <p:cNvSpPr/>
          <p:nvPr/>
        </p:nvSpPr>
        <p:spPr>
          <a:xfrm>
            <a:off x="548640" y="5166360"/>
            <a:ext cx="11064240" cy="868680"/>
          </a:xfrm>
          <a:prstGeom prst="roundRect">
            <a:avLst>
              <a:gd name="adj" fmla="val 12632"/>
            </a:avLst>
          </a:prstGeom>
          <a:solidFill>
            <a:srgbClr val="EAF2F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777240" y="525780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</a:rPr>
              <a:t>Na prática: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com 10.000 solicitações, o heap faz cerca de 130 mil comparações; procurar o mais urgente a cada passo faria cerca de 100 milhões.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Próximos passos</a:t>
            </a:r>
            <a:endParaRPr lang="en-US" sz="3600" dirty="0"/>
          </a:p>
        </p:txBody>
      </p:sp>
      <p:sp>
        <p:nvSpPr>
          <p:cNvPr id="3" name="Proximo 1 circulo"/>
          <p:cNvSpPr/>
          <p:nvPr/>
        </p:nvSpPr>
        <p:spPr>
          <a:xfrm>
            <a:off x="548640" y="1691640"/>
            <a:ext cx="777240" cy="777240"/>
          </a:xfrm>
          <a:prstGeom prst="ellipse">
            <a:avLst/>
          </a:prstGeom>
          <a:solidFill>
            <a:srgbClr val="1F7A80"/>
          </a:solidFill>
          <a:ln/>
        </p:spPr>
      </p:sp>
      <p:pic>
        <p:nvPicPr>
          <p:cNvPr id="4" name="Proximo 1 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" y="1885950"/>
            <a:ext cx="388620" cy="3886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54480" y="169164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9B2D"/>
                </a:solidFill>
              </a:rPr>
              <a:t>US26  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Ranking de bairros e atrasadas no painel do gestor</a:t>
            </a:r>
            <a:endParaRPr lang="en-US" sz="2000" dirty="0"/>
          </a:p>
        </p:txBody>
      </p:sp>
      <p:sp>
        <p:nvSpPr>
          <p:cNvPr id="6" name="Proximo 2 circulo"/>
          <p:cNvSpPr/>
          <p:nvPr/>
        </p:nvSpPr>
        <p:spPr>
          <a:xfrm>
            <a:off x="548640" y="2834640"/>
            <a:ext cx="777240" cy="777240"/>
          </a:xfrm>
          <a:prstGeom prst="ellipse">
            <a:avLst/>
          </a:prstGeom>
          <a:solidFill>
            <a:srgbClr val="1F7A80"/>
          </a:solidFill>
          <a:ln/>
        </p:spPr>
      </p:sp>
      <p:pic>
        <p:nvPicPr>
          <p:cNvPr id="7" name="Proximo 2 i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3028950"/>
            <a:ext cx="388620" cy="3886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54480" y="283464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9B2D"/>
                </a:solidFill>
              </a:rPr>
              <a:t>US27  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Consulta por número de protocolo</a:t>
            </a:r>
            <a:endParaRPr lang="en-US" sz="2000" dirty="0"/>
          </a:p>
        </p:txBody>
      </p:sp>
      <p:sp>
        <p:nvSpPr>
          <p:cNvPr id="9" name="Proximo 3 circulo"/>
          <p:cNvSpPr/>
          <p:nvPr/>
        </p:nvSpPr>
        <p:spPr>
          <a:xfrm>
            <a:off x="548640" y="3977640"/>
            <a:ext cx="777240" cy="777240"/>
          </a:xfrm>
          <a:prstGeom prst="ellipse">
            <a:avLst/>
          </a:prstGeom>
          <a:solidFill>
            <a:srgbClr val="1F7A80"/>
          </a:solidFill>
          <a:ln/>
        </p:spPr>
      </p:sp>
      <p:pic>
        <p:nvPicPr>
          <p:cNvPr id="10" name="Proximo 3 i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4171950"/>
            <a:ext cx="388620" cy="3886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554480" y="397764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9B2D"/>
                </a:solidFill>
              </a:rPr>
              <a:t>US30  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Grafo para agrupar e concluir duplicadas juntas</a:t>
            </a:r>
            <a:endParaRPr lang="en-US" sz="2000" dirty="0"/>
          </a:p>
        </p:txBody>
      </p:sp>
      <p:sp>
        <p:nvSpPr>
          <p:cNvPr id="12" name="Links"/>
          <p:cNvSpPr/>
          <p:nvPr/>
        </p:nvSpPr>
        <p:spPr>
          <a:xfrm>
            <a:off x="7863840" y="1691640"/>
            <a:ext cx="3749040" cy="3063240"/>
          </a:xfrm>
          <a:prstGeom prst="roundRect">
            <a:avLst>
              <a:gd name="adj" fmla="val 3582"/>
            </a:avLst>
          </a:prstGeom>
          <a:solidFill>
            <a:srgbClr val="174B54"/>
          </a:solidFill>
          <a:ln/>
        </p:spPr>
      </p:sp>
      <p:pic>
        <p:nvPicPr>
          <p:cNvPr id="13" name="Icone GitHub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1965960"/>
            <a:ext cx="457200" cy="45720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8732520" y="19202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github.com/nicoBernil/ HackGov-Fase4-NicolasBernal_559077</a:t>
            </a:r>
            <a:endParaRPr lang="en-US" sz="1300" dirty="0"/>
          </a:p>
        </p:txBody>
      </p:sp>
      <p:pic>
        <p:nvPicPr>
          <p:cNvPr id="15" name="Icone YouTub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0" y="3108960"/>
            <a:ext cx="457200" cy="45720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8732520" y="31089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Vídeo: inserir link do YouTube</a:t>
            </a:r>
            <a:endParaRPr lang="en-US" sz="1300" dirty="0"/>
          </a:p>
        </p:txBody>
      </p:sp>
      <p:sp>
        <p:nvSpPr>
          <p:cNvPr id="17" name="Text 10"/>
          <p:cNvSpPr txBox="1"/>
          <p:nvPr/>
        </p:nvSpPr>
        <p:spPr>
          <a:xfrm>
            <a:off x="8138160" y="41148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Nicolas Bernal · RM 559077</a:t>
            </a:r>
            <a:endParaRPr lang="en-US" sz="1500" dirty="0"/>
          </a:p>
        </p:txBody>
      </p:sp>
      <p:sp>
        <p:nvSpPr>
          <p:cNvPr id="18" name="Text 11"/>
          <p:cNvSpPr txBox="1"/>
          <p:nvPr/>
        </p:nvSpPr>
        <p:spPr>
          <a:xfrm>
            <a:off x="548640" y="548640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Obrigado!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ckGov Civico">
  <a:themeElements>
    <a:clrScheme name="HackGov Civico">
      <a:dk1>
        <a:srgbClr val="1B2A30"/>
      </a:dk1>
      <a:lt1>
        <a:srgbClr val="FFFFFF"/>
      </a:lt1>
      <a:dk2>
        <a:srgbClr val="0E3B43"/>
      </a:dk2>
      <a:lt2>
        <a:srgbClr val="EAF2F1"/>
      </a:lt2>
      <a:accent1>
        <a:srgbClr val="E89B2D"/>
      </a:accent1>
      <a:accent2>
        <a:srgbClr val="1F7A80"/>
      </a:accent2>
      <a:accent3>
        <a:srgbClr val="9DB5B2"/>
      </a:accent3>
      <a:accent4>
        <a:srgbClr val="C4562F"/>
      </a:accent4>
      <a:accent5>
        <a:srgbClr val="5B8C5A"/>
      </a:accent5>
      <a:accent6>
        <a:srgbClr val="6B7C80"/>
      </a:accent6>
      <a:hlink>
        <a:srgbClr val="1F7A80"/>
      </a:hlink>
      <a:folHlink>
        <a:srgbClr val="6B7C80"/>
      </a:folHlink>
    </a:clrScheme>
    <a:fontScheme name="HackGov Civico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HackGov — IA, Dados e Algoritmos</dc:title>
  <dc:subject>PptxGenJS Presentation</dc:subject>
  <dc:creator>Nicolas Bernal</dc:creator>
  <cp:lastModifiedBy>Nicolas Bernal</cp:lastModifiedBy>
  <cp:revision>1</cp:revision>
  <dcterms:created xsi:type="dcterms:W3CDTF">2026-10-16T20:56:00Z</dcterms:created>
  <dcterms:modified xsi:type="dcterms:W3CDTF">2026-10-16T20:56:00Z</dcterms:modified>
</cp:coreProperties>
</file>